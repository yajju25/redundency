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Merriweather" panose="020F0502020204030204" pitchFamily="2" charset="0"/>
      <p:regular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23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419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323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997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960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663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8246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1304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8967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4635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859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801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14076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1097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273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004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07524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1002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158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95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314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121792"/>
            <a:ext cx="4635252" cy="192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Guardians of Data: Backup, Recovery, and Key Management Best Practices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968874" y="3281363"/>
            <a:ext cx="4635252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Concise guidance to design resilient backup, recovery, and cryptographic key programs that align with business risk, compliance, and operational needs.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446708"/>
            <a:ext cx="4635252" cy="9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Hidden Risk: When Data Becomes Hostage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968874" y="1553914"/>
            <a:ext cx="2249835" cy="1952923"/>
          </a:xfrm>
          <a:prstGeom prst="roundRect">
            <a:avLst>
              <a:gd name="adj" fmla="val 311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8223" y="1703263"/>
            <a:ext cx="1807815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Encryption ≠ Rescue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8223" y="2010519"/>
            <a:ext cx="1951137" cy="1345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encryption protects data confidentiality — but without disciplined key management, encryption can make recovery impossible.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4291" y="1553914"/>
            <a:ext cx="2249835" cy="1952923"/>
          </a:xfrm>
          <a:prstGeom prst="roundRect">
            <a:avLst>
              <a:gd name="adj" fmla="val 311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640" y="1703263"/>
            <a:ext cx="1951137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Key-Centric Threat Model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03640" y="2236440"/>
            <a:ext cx="1951137" cy="1121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Cryptography shifts the primary risk from data theft to key compromise or loss — model and protect keys accordingly.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68874" y="3642420"/>
            <a:ext cx="4635252" cy="1054373"/>
          </a:xfrm>
          <a:prstGeom prst="roundRect">
            <a:avLst>
              <a:gd name="adj" fmla="val 5761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8223" y="3791769"/>
            <a:ext cx="210376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Continuity Requirement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8223" y="4099024"/>
            <a:ext cx="433655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continuity relies on timely access to verified data; backups + keys must be orchestrated to guarantee availability.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08311"/>
            <a:ext cx="7556971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Backup Strategy: Defining Your Assets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02" y="1731987"/>
            <a:ext cx="2464583" cy="24645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0877" y="1860500"/>
            <a:ext cx="4687937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Establish asset categories to tailor protection levels and recovery targets:       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0877" y="2492797"/>
            <a:ext cx="4687937" cy="1588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Working Sets — Active, frequently changing data; require fast RTO/RPO.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Reference Sets — Immutable archives (legal, media); require integrity and long-term preservation.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— Eliminate major data loss by enabling recovery to a specific, verified point-in-time.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549622"/>
            <a:ext cx="5051301" cy="361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7 Steps to Strategic Recovery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3968874" y="1041276"/>
            <a:ext cx="115639" cy="694209"/>
          </a:xfrm>
          <a:prstGeom prst="roundRect">
            <a:avLst>
              <a:gd name="adj" fmla="val 42023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71280" y="1156915"/>
            <a:ext cx="291226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Continuous-improvement Methodology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71280" y="1389757"/>
            <a:ext cx="4432846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 a repeatable plan, test assumptions, capture lessons, refine processes.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42408" y="1822252"/>
            <a:ext cx="115639" cy="694209"/>
          </a:xfrm>
          <a:prstGeom prst="roundRect">
            <a:avLst>
              <a:gd name="adj" fmla="val 42023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44814" y="1937891"/>
            <a:ext cx="1446237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SLA Alignment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44814" y="2170733"/>
            <a:ext cx="4259312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Map RTO/RPO to business priorities and budget — tier data accordingly.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15941" y="2603227"/>
            <a:ext cx="115639" cy="694209"/>
          </a:xfrm>
          <a:prstGeom prst="roundRect">
            <a:avLst>
              <a:gd name="adj" fmla="val 42023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8347" y="2718867"/>
            <a:ext cx="2015654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ROI for Storage &amp; Recovery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18347" y="2951708"/>
            <a:ext cx="4085779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Quantify cost of downtime versus protection to justify investments.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9475" y="3384203"/>
            <a:ext cx="115639" cy="788119"/>
          </a:xfrm>
          <a:prstGeom prst="roundRect">
            <a:avLst>
              <a:gd name="adj" fmla="val 42023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1881" y="3499842"/>
            <a:ext cx="2327746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4. Vendor &amp; Buy-in Formalization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91881" y="3732684"/>
            <a:ext cx="3912245" cy="3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Define vendor SLAs, contractual responsibilities, and internal governance.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68874" y="4269879"/>
            <a:ext cx="4635252" cy="3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Regularly exercise recoveries and maintain documented playbooks to reduce time-to-restore.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34541"/>
            <a:ext cx="5814938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Cryptographic Life 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9874" y="1586731"/>
            <a:ext cx="4265935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Manage keys as first-class assets through clearly defined lifecycle stages: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9874" y="2219027"/>
            <a:ext cx="4265935" cy="2135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Creation — Use strong entropy, approved algorithms, policy-driven attributes.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Distribution &amp; Storage — Prefer HSMs or cloud KMS with envelope encryption.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Rotation &amp; Revocation — Schedule rotations; revoke promptly on suspicion of compromise.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Destruction — Certify secure destruction to avoid orphaned access points.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957" y="1586731"/>
            <a:ext cx="4775405" cy="2056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425351"/>
            <a:ext cx="4635252" cy="753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Management: The "Keys to the Kingdom"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8874" y="1319808"/>
            <a:ext cx="301303" cy="3013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68874" y="1738759"/>
            <a:ext cx="1506513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Operational Keys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3968874" y="1983581"/>
            <a:ext cx="4635252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Used daily for encrypting workloads; store in secure key stores with strict access controls.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8874" y="2515344"/>
            <a:ext cx="301303" cy="3013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68874" y="2934295"/>
            <a:ext cx="1506513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Master Keys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3968874" y="3179118"/>
            <a:ext cx="4635252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Protect other keys (key-encryption-keys); keep in tamper-proof hardware and restrict use.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8874" y="3710880"/>
            <a:ext cx="301303" cy="3013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68874" y="4129832"/>
            <a:ext cx="1506513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Separation of Duties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3968874" y="4374654"/>
            <a:ext cx="4635252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Dual control and split knowledge prevent any single admin from exposing plaintext keys.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08311"/>
            <a:ext cx="6304880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Architecture of Compliance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9874" y="1860500"/>
            <a:ext cx="3843933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Build a traceable, standards-aligned key program that supports audits and integration:     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9874" y="2492797"/>
            <a:ext cx="3843933" cy="1588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Standards — Base policies on NIST SP 800-57 and related guidance.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Auditability — Preserve immutable logs for all key operations to meet PCI, HIPAA, SOX.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Interoperability — Use KMIP and standardized APIs to integrate multi-vendor systems.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196" y="1256713"/>
            <a:ext cx="4023990" cy="31628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426467"/>
            <a:ext cx="4635252" cy="949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Balancing Flexibility and Security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39874" y="1599754"/>
            <a:ext cx="2242914" cy="1845543"/>
          </a:xfrm>
          <a:prstGeom prst="roundRect">
            <a:avLst>
              <a:gd name="adj" fmla="val 345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6441" y="1756321"/>
            <a:ext cx="1929780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Customer-Managed Keys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96441" y="2320454"/>
            <a:ext cx="192978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Max control and custom auditing — ideal for strict regulatory or contractual needs.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12" y="1599754"/>
            <a:ext cx="2242914" cy="1845543"/>
          </a:xfrm>
          <a:prstGeom prst="roundRect">
            <a:avLst>
              <a:gd name="adj" fmla="val 345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88779" y="1756321"/>
            <a:ext cx="1901875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Cloud Managed KMS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088779" y="2083222"/>
            <a:ext cx="1929780" cy="1205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Reduces operational burden and provides built-in durability and scale; review shared-responsibility model.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9874" y="3594720"/>
            <a:ext cx="4635252" cy="1122238"/>
          </a:xfrm>
          <a:prstGeom prst="roundRect">
            <a:avLst>
              <a:gd name="adj" fmla="val 5683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6441" y="3751287"/>
            <a:ext cx="2530971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 Availability &amp; Backups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6441" y="4078188"/>
            <a:ext cx="432211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Replicate keys across approved regions or appliances; test failover paths to avoid production downtime.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72332"/>
            <a:ext cx="5163294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Common Pitfalls to Avoid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2062907"/>
            <a:ext cx="742206" cy="927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4887" y="2062907"/>
            <a:ext cx="1624533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Neglecting Key Management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74887" y="2637309"/>
            <a:ext cx="1624533" cy="1233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Thinking keys are "too complex" leads to brittle systems and catastrophic recoveries.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227" y="2062907"/>
            <a:ext cx="742206" cy="927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7240" y="2062907"/>
            <a:ext cx="1624533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Manual Processes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227240" y="2637309"/>
            <a:ext cx="1624533" cy="1233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Human-dependent workflows increase error rates; automate where possible with guarded approvals.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580" y="2062907"/>
            <a:ext cx="742206" cy="927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593" y="2062907"/>
            <a:ext cx="1624533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Desynchronized Backups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979593" y="2637309"/>
            <a:ext cx="1624533" cy="1233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Unsynced backup and key cycles produce unrecoverable gaps — schedule and validate consistently.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432271"/>
            <a:ext cx="4635252" cy="82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Conclusion: Resilient by Design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39874" y="1534120"/>
            <a:ext cx="2155924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Security is a lifecycle — align backup and key programs to business goals and treat keys as strategic assets.       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9874" y="2425378"/>
            <a:ext cx="2155924" cy="1657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Map assets and classify data by criticality.</a:t>
            </a:r>
            <a:endParaRPr lang="en-US" sz="100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Protect keys with HSMs or managed KMS and enforce rotation and separation of duties.</a:t>
            </a:r>
            <a:endParaRPr lang="en-US" sz="100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Test recoveries regularly and document playbooks.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023964" y="1559793"/>
            <a:ext cx="2155924" cy="1206252"/>
          </a:xfrm>
          <a:prstGeom prst="roundRect">
            <a:avLst>
              <a:gd name="adj" fmla="val 4616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70783" y="1706612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 Now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70783" y="2027634"/>
            <a:ext cx="1862286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Inventory, secure, and validate—run a recovery test this quarter.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23964" y="2879973"/>
            <a:ext cx="2155924" cy="1206252"/>
          </a:xfrm>
          <a:prstGeom prst="roundRect">
            <a:avLst>
              <a:gd name="adj" fmla="val 4616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70783" y="3026792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70783" y="3347814"/>
            <a:ext cx="1862286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ROI-backed budget requests for improved storage and key tooling.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023964" y="4214366"/>
            <a:ext cx="215592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Theme accents: #609DFF · #041938 · #013180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665</Words>
  <Application>Microsoft Office PowerPoint</Application>
  <PresentationFormat>On-screen Show (16:9)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Wingdings 3</vt:lpstr>
      <vt:lpstr>Merriweather</vt:lpstr>
      <vt:lpstr>Century Gothic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Yajnesh M S</cp:lastModifiedBy>
  <cp:revision>2</cp:revision>
  <dcterms:created xsi:type="dcterms:W3CDTF">2026-06-18T15:08:20Z</dcterms:created>
  <dcterms:modified xsi:type="dcterms:W3CDTF">2026-06-24T15:00:59Z</dcterms:modified>
</cp:coreProperties>
</file>